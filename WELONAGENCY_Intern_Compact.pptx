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3A47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Jetour</c:v>
                </c:pt>
                <c:pt idx="1">
                  <c:v>Biosfera</c:v>
                </c:pt>
                <c:pt idx="2">
                  <c:v>Kinetik</c:v>
                </c:pt>
                <c:pt idx="3">
                  <c:v>Romantic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3.84</c:v>
                </c:pt>
                <c:pt idx="1">
                  <c:v>2.38</c:v>
                </c:pt>
                <c:pt idx="2">
                  <c:v>1.65</c:v>
                </c:pt>
                <c:pt idx="3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D7-458C-9A0C-2A97AA9E97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2C6E9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A4-4302-ABF7-40DA841D8AE6}"/>
              </c:ext>
            </c:extLst>
          </c:dPt>
          <c:dPt>
            <c:idx val="1"/>
            <c:invertIfNegative val="0"/>
            <c:bubble3D val="0"/>
            <c:spPr>
              <a:solidFill>
                <a:srgbClr val="1F8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A4-4302-ABF7-40DA841D8AE6}"/>
              </c:ext>
            </c:extLst>
          </c:dPt>
          <c:dPt>
            <c:idx val="2"/>
            <c:invertIfNegative val="0"/>
            <c:bubble3D val="0"/>
            <c:spPr>
              <a:solidFill>
                <a:srgbClr val="12A5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A4-4302-ABF7-40DA841D8A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3A47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</c:v>
                </c:pt>
                <c:pt idx="1">
                  <c:v>172</c:v>
                </c:pt>
                <c:pt idx="2">
                  <c:v>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A4-4302-ABF7-40DA841D8A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</c:v>
                </c:pt>
              </c:strCache>
            </c:strRef>
          </c:tx>
          <c:spPr>
            <a:solidFill>
              <a:srgbClr val="2C6E9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C3-4D6A-BDE5-6F7C9039483B}"/>
              </c:ext>
            </c:extLst>
          </c:dPt>
          <c:dPt>
            <c:idx val="1"/>
            <c:invertIfNegative val="0"/>
            <c:bubble3D val="0"/>
            <c:spPr>
              <a:solidFill>
                <a:srgbClr val="1F8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C3-4D6A-BDE5-6F7C9039483B}"/>
              </c:ext>
            </c:extLst>
          </c:dPt>
          <c:dPt>
            <c:idx val="2"/>
            <c:invertIfNegative val="0"/>
            <c:bubble3D val="0"/>
            <c:spPr>
              <a:solidFill>
                <a:srgbClr val="12A5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C3-4D6A-BDE5-6F7C903948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3A47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Conservative</c:v>
                </c:pt>
                <c:pt idx="1">
                  <c:v>Base Case</c:v>
                </c:pt>
                <c:pt idx="2">
                  <c:v>Optimistic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1934</c:v>
                </c:pt>
                <c:pt idx="1">
                  <c:v>3769</c:v>
                </c:pt>
                <c:pt idx="2">
                  <c:v>7379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C3-4D6A-BDE5-6F7C903948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A5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E1-4807-8E81-FF670CC11B4F}"/>
              </c:ext>
            </c:extLst>
          </c:dPt>
          <c:dPt>
            <c:idx val="1"/>
            <c:bubble3D val="0"/>
            <c:spPr>
              <a:solidFill>
                <a:srgbClr val="2C6E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E1-4807-8E81-FF670CC11B4F}"/>
              </c:ext>
            </c:extLst>
          </c:dPt>
          <c:dPt>
            <c:idx val="2"/>
            <c:bubble3D val="0"/>
            <c:spPr>
              <a:solidFill>
                <a:srgbClr val="E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E1-4807-8E81-FF670CC11B4F}"/>
              </c:ext>
            </c:extLst>
          </c:dPt>
          <c:dPt>
            <c:idx val="3"/>
            <c:bubble3D val="0"/>
            <c:spPr>
              <a:solidFill>
                <a:srgbClr val="1F8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E1-4807-8E81-FF670CC11B4F}"/>
              </c:ext>
            </c:extLst>
          </c:dPt>
          <c:cat>
            <c:strRef>
              <c:f>Sheet1!$A$2:$A$5</c:f>
              <c:strCache>
                <c:ptCount val="4"/>
                <c:pt idx="0">
                  <c:v>Jetour 50%</c:v>
                </c:pt>
                <c:pt idx="1">
                  <c:v>Romantic 40%</c:v>
                </c:pt>
                <c:pt idx="2">
                  <c:v>Biosfera 5%</c:v>
                </c:pt>
                <c:pt idx="3">
                  <c:v>Kinetik 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40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E1-4807-8E81-FF670CC11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3A4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28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2C6E91">
              <a:alpha val="36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0881360" y="4023360"/>
            <a:ext cx="3657600" cy="3657600"/>
          </a:xfrm>
          <a:prstGeom prst="ellipse">
            <a:avLst/>
          </a:prstGeom>
          <a:solidFill>
            <a:srgbClr val="12A594">
              <a:alpha val="28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188720" y="4937760"/>
            <a:ext cx="3108960" cy="3108960"/>
          </a:xfrm>
          <a:prstGeom prst="ellipse">
            <a:avLst/>
          </a:prstGeom>
          <a:solidFill>
            <a:srgbClr val="2C6E91">
              <a:alpha val="26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3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PRACTICE  ·  FINAL PRESENTATION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Base Analysis &amp; Campaign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Optimization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pipeline for WELON AGENCY (TOO) — Astana, Kazakhstan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Aitakhmetova Sabina
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MCS-2401  ·  Mathematics &amp; Computational Sciences
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IT University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3886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Dmitry Skakovsky
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Director · MSc Media Technologies, AITU
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08 Jun – 04 Jul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12A594">
              <a:alpha val="88000"/>
            </a:srgbClr>
          </a:solidFill>
          <a:ln w="1270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&amp; Workplace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ROLE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148840" y="1965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AGENCY, TOO — Digital Marketing &amp; Advertising (OKED 73120)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25694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148840" y="25694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Astana, Kazakhstan · TOO, founded 2023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3172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148840" y="31729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Performance Department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37764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148840" y="37764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37997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148840" y="43799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Dmitry Skakovsky — Director; MSc Media Technologies (AITU)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" y="5029200"/>
            <a:ext cx="4572000" cy="1005840"/>
          </a:xfrm>
          <a:prstGeom prst="roundRect">
            <a:avLst>
              <a:gd name="adj" fmla="val 6364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1005840" y="5029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 </a:t>
            </a:r>
            <a:r>
              <a:rPr lang="en-US" sz="1150" dirty="0">
                <a:solidFill>
                  <a:srgbClr val="E1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complete, reproducible analytics pipeline that turns raw campaign data into business insight for an agency with no data infrastructure.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0" y="132588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612648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ROLE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63640" y="1920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analysis &amp; audience segmentation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KPIs — CTR, CPC, CVR, ROI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 &amp; data-driven optimization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and optimizes campaign budgets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852160" y="3840480"/>
            <a:ext cx="5760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612648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REAL CLIENTS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26480" y="4434840"/>
            <a:ext cx="2560320" cy="713232"/>
          </a:xfrm>
          <a:prstGeom prst="roundRect">
            <a:avLst>
              <a:gd name="adj" fmla="val 8974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6263640" y="4507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Flowers · Almaty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823960" y="4434840"/>
            <a:ext cx="2560320" cy="713232"/>
          </a:xfrm>
          <a:prstGeom prst="roundRect">
            <a:avLst>
              <a:gd name="adj" fmla="val 8974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8961120" y="4507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Biosfera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961120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· Almaty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26480" y="5276088"/>
            <a:ext cx="2560320" cy="713232"/>
          </a:xfrm>
          <a:prstGeom prst="roundRect">
            <a:avLst>
              <a:gd name="adj" fmla="val 8974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6263640" y="5349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Jetour Auto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5641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· Almaty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23960" y="5276088"/>
            <a:ext cx="2560320" cy="713232"/>
          </a:xfrm>
          <a:prstGeom prst="roundRect">
            <a:avLst>
              <a:gd name="adj" fmla="val 8974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8961120" y="5349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Kinetik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961120" y="5641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rehab · Astana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Technology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9893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822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— 10 WORKSTREAMS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1984248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82296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34440" y="1929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34440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campaign performance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03320" y="1984248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70332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0" y="1929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0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clients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8229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34440" y="2734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3444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metrics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703320" y="2788920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37033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0" y="2734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(t-tests)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22960" y="3593592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82296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34440" y="3538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34440" y="3822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per client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703320" y="3593592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370332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114800" y="3538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114800" y="3822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campaigns by performance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22960" y="4398264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822960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234440" y="4343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234440" y="4626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703320" y="4398264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3703320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114800" y="4343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Forecast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114800" y="4626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5202936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822960" y="5202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234440" y="5148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Optimization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234440" y="5431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ROI (linprog)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703320" y="5202936"/>
            <a:ext cx="310896" cy="31089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3703320" y="5202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114800" y="5148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114800" y="5431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dashboard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766560" y="1325880"/>
            <a:ext cx="4846320" cy="48920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704088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040880" y="196596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3" name="Shape 50"/>
          <p:cNvSpPr/>
          <p:nvPr/>
        </p:nvSpPr>
        <p:spPr>
          <a:xfrm>
            <a:off x="7178040" y="2121408"/>
            <a:ext cx="237744" cy="237744"/>
          </a:xfrm>
          <a:prstGeom prst="ellipse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Text 51"/>
          <p:cNvSpPr/>
          <p:nvPr/>
        </p:nvSpPr>
        <p:spPr>
          <a:xfrm>
            <a:off x="754380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Data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7543800" y="2240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040880" y="260604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7" name="Shape 54"/>
          <p:cNvSpPr/>
          <p:nvPr/>
        </p:nvSpPr>
        <p:spPr>
          <a:xfrm>
            <a:off x="7178040" y="2761488"/>
            <a:ext cx="237744" cy="237744"/>
          </a:xfrm>
          <a:prstGeom prst="ellipse">
            <a:avLst/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8" name="Text 55"/>
          <p:cNvSpPr/>
          <p:nvPr/>
        </p:nvSpPr>
        <p:spPr>
          <a:xfrm>
            <a:off x="754380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7543800" y="2880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scipy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040880" y="324612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1" name="Shape 58"/>
          <p:cNvSpPr/>
          <p:nvPr/>
        </p:nvSpPr>
        <p:spPr>
          <a:xfrm>
            <a:off x="7178040" y="3401568"/>
            <a:ext cx="237744" cy="23774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754380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63" name="Text 60"/>
          <p:cNvSpPr/>
          <p:nvPr/>
        </p:nvSpPr>
        <p:spPr>
          <a:xfrm>
            <a:off x="7543800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Plotly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7040880" y="388620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5" name="Shape 62"/>
          <p:cNvSpPr/>
          <p:nvPr/>
        </p:nvSpPr>
        <p:spPr>
          <a:xfrm>
            <a:off x="7178040" y="4041648"/>
            <a:ext cx="237744" cy="237744"/>
          </a:xfrm>
          <a:prstGeom prst="ellipse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6" name="Text 63"/>
          <p:cNvSpPr/>
          <p:nvPr/>
        </p:nvSpPr>
        <p:spPr>
          <a:xfrm>
            <a:off x="754380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67" name="Text 64"/>
          <p:cNvSpPr/>
          <p:nvPr/>
        </p:nvSpPr>
        <p:spPr>
          <a:xfrm>
            <a:off x="7543800" y="4160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40880" y="452628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9" name="Shape 66"/>
          <p:cNvSpPr/>
          <p:nvPr/>
        </p:nvSpPr>
        <p:spPr>
          <a:xfrm>
            <a:off x="7178040" y="4681728"/>
            <a:ext cx="237744" cy="237744"/>
          </a:xfrm>
          <a:prstGeom prst="ellipse">
            <a:avLst/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0" name="Text 67"/>
          <p:cNvSpPr/>
          <p:nvPr/>
        </p:nvSpPr>
        <p:spPr>
          <a:xfrm>
            <a:off x="7543800" y="4572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7543800" y="4800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040880" y="516636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3" name="Shape 70"/>
          <p:cNvSpPr/>
          <p:nvPr/>
        </p:nvSpPr>
        <p:spPr>
          <a:xfrm>
            <a:off x="7178040" y="5321808"/>
            <a:ext cx="237744" cy="23774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4" name="Text 71"/>
          <p:cNvSpPr/>
          <p:nvPr/>
        </p:nvSpPr>
        <p:spPr>
          <a:xfrm>
            <a:off x="7543800" y="5212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75" name="Text 72"/>
          <p:cNvSpPr/>
          <p:nvPr/>
        </p:nvSpPr>
        <p:spPr>
          <a:xfrm>
            <a:off x="7543800" y="5440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7040880" y="5806440"/>
            <a:ext cx="4297680" cy="292608"/>
          </a:xfrm>
          <a:prstGeom prst="roundRect">
            <a:avLst>
              <a:gd name="adj" fmla="val 15625"/>
            </a:avLst>
          </a:prstGeom>
          <a:solidFill>
            <a:srgbClr val="E6F1E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7" name="Text 74"/>
          <p:cNvSpPr/>
          <p:nvPr/>
        </p:nvSpPr>
        <p:spPr>
          <a:xfrm>
            <a:off x="7040880" y="5806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over Excel → reproducible, automated, free.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pipeline — data engineering → storage → analysis → ML → deployment.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984248" cy="3794760"/>
          </a:xfrm>
          <a:prstGeom prst="roundRect">
            <a:avLst>
              <a:gd name="adj" fmla="val 3226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984248" cy="502920"/>
          </a:xfrm>
          <a:prstGeom prst="roundRect">
            <a:avLst>
              <a:gd name="adj" fmla="val 12727"/>
            </a:avLst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1984248" cy="228600"/>
          </a:xfrm>
          <a:prstGeom prst="rect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594360" y="192024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" y="2606040"/>
            <a:ext cx="17099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campaigns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clients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69464" y="3698748"/>
            <a:ext cx="219456" cy="237744"/>
          </a:xfrm>
          <a:prstGeom prst="rightArrow">
            <a:avLst/>
          </a:prstGeom>
          <a:solidFill>
            <a:srgbClr val="6B7C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825496" y="1920240"/>
            <a:ext cx="1984248" cy="3794760"/>
          </a:xfrm>
          <a:prstGeom prst="roundRect">
            <a:avLst>
              <a:gd name="adj" fmla="val 3226"/>
            </a:avLst>
          </a:prstGeom>
          <a:solidFill>
            <a:srgbClr val="E8F2F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2825496" y="1920240"/>
            <a:ext cx="1984248" cy="502920"/>
          </a:xfrm>
          <a:prstGeom prst="roundRect">
            <a:avLst>
              <a:gd name="adj" fmla="val 12727"/>
            </a:avLst>
          </a:prstGeom>
          <a:solidFill>
            <a:srgbClr val="2580A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4"/>
          <p:cNvSpPr/>
          <p:nvPr/>
        </p:nvSpPr>
        <p:spPr>
          <a:xfrm>
            <a:off x="2825496" y="2194560"/>
            <a:ext cx="1984248" cy="228600"/>
          </a:xfrm>
          <a:prstGeom prst="rect">
            <a:avLst/>
          </a:prstGeom>
          <a:solidFill>
            <a:srgbClr val="2580A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2871216" y="192024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990088" y="2606040"/>
            <a:ext cx="17099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clients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campaigns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relational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698748"/>
            <a:ext cx="219456" cy="237744"/>
          </a:xfrm>
          <a:prstGeom prst="rightArrow">
            <a:avLst/>
          </a:prstGeom>
          <a:solidFill>
            <a:srgbClr val="6B7C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5102352" y="1920240"/>
            <a:ext cx="1984248" cy="3794760"/>
          </a:xfrm>
          <a:prstGeom prst="roundRect">
            <a:avLst>
              <a:gd name="adj" fmla="val 3226"/>
            </a:avLst>
          </a:prstGeom>
          <a:solidFill>
            <a:srgbClr val="E6F3F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5102352" y="1920240"/>
            <a:ext cx="1984248" cy="502920"/>
          </a:xfrm>
          <a:prstGeom prst="roundRect">
            <a:avLst>
              <a:gd name="adj" fmla="val 12727"/>
            </a:avLst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5102352" y="2194560"/>
            <a:ext cx="1984248" cy="228600"/>
          </a:xfrm>
          <a:prstGeom prst="rect">
            <a:avLst/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5148072" y="192024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66944" y="2606040"/>
            <a:ext cx="17099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(t-test)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23176" y="3698748"/>
            <a:ext cx="219456" cy="237744"/>
          </a:xfrm>
          <a:prstGeom prst="rightArrow">
            <a:avLst/>
          </a:prstGeom>
          <a:solidFill>
            <a:srgbClr val="6B7C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7379208" y="1920240"/>
            <a:ext cx="1984248" cy="3794760"/>
          </a:xfrm>
          <a:prstGeom prst="roundRect">
            <a:avLst>
              <a:gd name="adj" fmla="val 3226"/>
            </a:avLst>
          </a:prstGeom>
          <a:solidFill>
            <a:srgbClr val="E5F4F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7379208" y="1920240"/>
            <a:ext cx="1984248" cy="502920"/>
          </a:xfrm>
          <a:prstGeom prst="roundRect">
            <a:avLst>
              <a:gd name="adj" fmla="val 12727"/>
            </a:avLst>
          </a:prstGeom>
          <a:solidFill>
            <a:srgbClr val="16A1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7379208" y="2194560"/>
            <a:ext cx="1984248" cy="228600"/>
          </a:xfrm>
          <a:prstGeom prst="rect">
            <a:avLst/>
          </a:prstGeom>
          <a:solidFill>
            <a:srgbClr val="16A1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7424928" y="192024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543800" y="2606040"/>
            <a:ext cx="17099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opt. (linprog)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400032" y="3698748"/>
            <a:ext cx="219456" cy="237744"/>
          </a:xfrm>
          <a:prstGeom prst="rightArrow">
            <a:avLst/>
          </a:prstGeom>
          <a:solidFill>
            <a:srgbClr val="6B7C8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Shape 30"/>
          <p:cNvSpPr/>
          <p:nvPr/>
        </p:nvSpPr>
        <p:spPr>
          <a:xfrm>
            <a:off x="9656064" y="1920240"/>
            <a:ext cx="1984248" cy="3794760"/>
          </a:xfrm>
          <a:prstGeom prst="roundRect">
            <a:avLst>
              <a:gd name="adj" fmla="val 3226"/>
            </a:avLst>
          </a:prstGeom>
          <a:solidFill>
            <a:srgbClr val="E4F4E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Shape 31"/>
          <p:cNvSpPr/>
          <p:nvPr/>
        </p:nvSpPr>
        <p:spPr>
          <a:xfrm>
            <a:off x="9656064" y="1920240"/>
            <a:ext cx="1984248" cy="502920"/>
          </a:xfrm>
          <a:prstGeom prst="roundRect">
            <a:avLst>
              <a:gd name="adj" fmla="val 12727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Shape 32"/>
          <p:cNvSpPr/>
          <p:nvPr/>
        </p:nvSpPr>
        <p:spPr>
          <a:xfrm>
            <a:off x="9656064" y="2194560"/>
            <a:ext cx="1984248" cy="22860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9701784" y="192024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20656" y="2606040"/>
            <a:ext cx="17099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dashboard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export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5897880"/>
            <a:ext cx="11091672" cy="384048"/>
          </a:xfrm>
          <a:prstGeom prst="roundRect">
            <a:avLst>
              <a:gd name="adj" fmla="val 11905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548640" y="58978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end-to-end flow — each stage feeds the next, fully automated and re-runnable.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Design &amp; Database Schema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548640" y="1444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campaigns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6324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3063240" y="1444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546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agency clients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24505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548640" y="2523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008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63240" y="24505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3063240" y="2523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8.58M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15468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(KZT)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DESIGN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489204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Jetour Auto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3.84M KZT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Biosfera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2.38M KZT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1.65M KZT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Romantic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3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0.72M KZT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566928" y="5897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type, dates, budget, spend, impressions, clicks, conversions, revenue + computed CTR / CVR / ROI / CPC.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715000" y="1371600"/>
            <a:ext cx="58978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0"/>
          <p:cNvSpPr/>
          <p:nvPr/>
        </p:nvSpPr>
        <p:spPr>
          <a:xfrm>
            <a:off x="5897880" y="1508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welon_agency.db  ·  one-to-many on client_id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989320" y="2468880"/>
            <a:ext cx="2148840" cy="384048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2"/>
          <p:cNvSpPr/>
          <p:nvPr/>
        </p:nvSpPr>
        <p:spPr>
          <a:xfrm>
            <a:off x="5989320" y="24688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989320" y="2852928"/>
            <a:ext cx="2148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F9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4"/>
          <p:cNvSpPr/>
          <p:nvPr/>
        </p:nvSpPr>
        <p:spPr>
          <a:xfrm>
            <a:off x="6126480" y="2944368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client_id </a:t>
            </a:r>
            <a:r>
              <a:rPr lang="en-US" sz="1050" b="1" dirty="0">
                <a:solidFill>
                  <a:srgbClr val="12A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contract_start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9006840" y="2148840"/>
            <a:ext cx="2377440" cy="384048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6"/>
          <p:cNvSpPr/>
          <p:nvPr/>
        </p:nvSpPr>
        <p:spPr>
          <a:xfrm>
            <a:off x="9006840" y="2148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006840" y="2532888"/>
            <a:ext cx="23774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F9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9144000" y="2624328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campaign_id </a:t>
            </a:r>
            <a:r>
              <a:rPr lang="en-US" sz="1000" b="1" dirty="0">
                <a:solidFill>
                  <a:srgbClr val="12A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client_id </a:t>
            </a:r>
            <a:r>
              <a:rPr lang="en-US" sz="1000" b="1" dirty="0">
                <a:solidFill>
                  <a:srgbClr val="E08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campaign_type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 · end_date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budget_kzt · spend_kzt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impressions · clicks
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conversions · revenue_kzt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138160" y="3108960"/>
            <a:ext cx="41148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30"/>
          <p:cNvSpPr/>
          <p:nvPr/>
        </p:nvSpPr>
        <p:spPr>
          <a:xfrm flipV="1">
            <a:off x="8549640" y="3108960"/>
            <a:ext cx="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31"/>
          <p:cNvSpPr/>
          <p:nvPr/>
        </p:nvSpPr>
        <p:spPr>
          <a:xfrm>
            <a:off x="8549640" y="2788920"/>
            <a:ext cx="45720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2"/>
          <p:cNvSpPr/>
          <p:nvPr/>
        </p:nvSpPr>
        <p:spPr>
          <a:xfrm>
            <a:off x="8183880" y="2834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8595360" y="2532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5989320" y="516636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6F1E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5"/>
          <p:cNvSpPr/>
          <p:nvPr/>
        </p:nvSpPr>
        <p:spPr>
          <a:xfrm>
            <a:off x="6172200" y="5285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performance metrics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17220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    CVR     ROI     CPC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Process &amp; SQL Findings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783080" y="1874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178308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234440" y="2368296"/>
            <a:ext cx="2606040" cy="420624"/>
          </a:xfrm>
          <a:prstGeom prst="roundRect">
            <a:avLst>
              <a:gd name="adj" fmla="val 8696"/>
            </a:avLst>
          </a:prstGeom>
          <a:solidFill>
            <a:srgbClr val="EAF1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1307592" y="236829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dataset + KPIs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234440" y="2916936"/>
            <a:ext cx="2606040" cy="420624"/>
          </a:xfrm>
          <a:prstGeom prst="roundRect">
            <a:avLst>
              <a:gd name="adj" fmla="val 8696"/>
            </a:avLst>
          </a:prstGeom>
          <a:solidFill>
            <a:srgbClr val="EAF1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1307592" y="291693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SQLite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234440" y="3465576"/>
            <a:ext cx="2606040" cy="420624"/>
          </a:xfrm>
          <a:prstGeom prst="roundRect">
            <a:avLst>
              <a:gd name="adj" fmla="val 8696"/>
            </a:avLst>
          </a:prstGeom>
          <a:solidFill>
            <a:srgbClr val="E6F3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1307592" y="34655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+ RFM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645920" y="4014216"/>
            <a:ext cx="1783080" cy="603504"/>
          </a:xfrm>
          <a:prstGeom prst="diamond">
            <a:avLst/>
          </a:prstGeom>
          <a:solidFill>
            <a:srgbClr val="FBEAD7"/>
          </a:solidFill>
          <a:ln w="12700">
            <a:solidFill>
              <a:srgbClr val="E08A3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1645920" y="4014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at risk?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584448" y="4197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churn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234440" y="4745736"/>
            <a:ext cx="2606040" cy="420624"/>
          </a:xfrm>
          <a:prstGeom prst="roundRect">
            <a:avLst>
              <a:gd name="adj" fmla="val 8696"/>
            </a:avLst>
          </a:prstGeom>
          <a:solidFill>
            <a:srgbClr val="E5F4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1307592" y="474573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· forecast · optimize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234440" y="5294376"/>
            <a:ext cx="2606040" cy="420624"/>
          </a:xfrm>
          <a:prstGeom prst="roundRect">
            <a:avLst>
              <a:gd name="adj" fmla="val 8696"/>
            </a:avLst>
          </a:prstGeom>
          <a:solidFill>
            <a:srgbClr val="E4F4E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1307592" y="52943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Streamlit dashboards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783080" y="5843016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1783080" y="58430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54880" y="132588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5029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KEY FINDINGS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166360" y="18745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Jetour leads spend (3,838K KZT) and ROI (523%)</a:t>
            </a:r>
            <a:endParaRPr lang="en-US" sz="12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spends least (720K) as a small retailer</a:t>
            </a:r>
            <a:endParaRPr lang="en-US" sz="12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&amp; SMM are top campaign types by ROI</a:t>
            </a:r>
            <a:endParaRPr lang="en-US" sz="12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queries: client performance + campaign types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BY CLIENT  (M KZT)</a:t>
            </a:r>
            <a:endParaRPr lang="en-US" sz="10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937760" y="3657600"/>
          <a:ext cx="64008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Segmentation &amp; Correlation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7607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each client on Recency, Frequency &amp; Monetary to flag churn risk.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1920240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777240" y="192024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777240" y="2084832"/>
            <a:ext cx="2560320" cy="146304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886968" y="1920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Jetour 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86968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85 · F 9 · 3.84M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0" y="1920240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3474720" y="192024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4"/>
          <p:cNvSpPr/>
          <p:nvPr/>
        </p:nvSpPr>
        <p:spPr>
          <a:xfrm>
            <a:off x="3474720" y="2084832"/>
            <a:ext cx="2560320" cy="146304"/>
          </a:xfrm>
          <a:prstGeom prst="rect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3584448" y="1920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Kinetik 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584448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 · F 9 · 1.65M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2834640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777240" y="283464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777240" y="2999232"/>
            <a:ext cx="2560320" cy="146304"/>
          </a:xfrm>
          <a:prstGeom prst="rect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886968" y="2834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86968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182 · F 14 · 0.72M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474720" y="2834640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3474720" y="283464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3474720" y="2999232"/>
            <a:ext cx="2560320" cy="146304"/>
          </a:xfrm>
          <a:prstGeom prst="rect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3584448" y="2834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Biosfera 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584448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243 · F 13 · 2.38M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77240" y="3931920"/>
            <a:ext cx="5303520" cy="1554480"/>
          </a:xfrm>
          <a:prstGeom prst="roundRect">
            <a:avLst>
              <a:gd name="adj" fmla="val 4118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14800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32588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6012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1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Biosfera — high-value and frequent — has not run a campaign in 243 days, by far the longest dormancy. Flagged At Risk and prioritized for re-engagement.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492240" y="132588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Text 31"/>
          <p:cNvSpPr/>
          <p:nvPr/>
        </p:nvSpPr>
        <p:spPr>
          <a:xfrm>
            <a:off x="672084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across nine campaign metrics — what drives returns.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720840" y="196596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Shape 33"/>
          <p:cNvSpPr/>
          <p:nvPr/>
        </p:nvSpPr>
        <p:spPr>
          <a:xfrm>
            <a:off x="7040880" y="21488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Text 34"/>
          <p:cNvSpPr/>
          <p:nvPr/>
        </p:nvSpPr>
        <p:spPr>
          <a:xfrm>
            <a:off x="704088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0.61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812280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↔ ROI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681228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of returns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9098280" y="196596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Shape 38"/>
          <p:cNvSpPr/>
          <p:nvPr/>
        </p:nvSpPr>
        <p:spPr>
          <a:xfrm>
            <a:off x="9418320" y="21488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04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Text 39"/>
          <p:cNvSpPr/>
          <p:nvPr/>
        </p:nvSpPr>
        <p:spPr>
          <a:xfrm>
            <a:off x="941832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−0.78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9189720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↔ CTR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918972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cost, lower click-rate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6720840" y="39319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Shape 43"/>
          <p:cNvSpPr/>
          <p:nvPr/>
        </p:nvSpPr>
        <p:spPr>
          <a:xfrm>
            <a:off x="704088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8" name="Text 44"/>
          <p:cNvSpPr/>
          <p:nvPr/>
        </p:nvSpPr>
        <p:spPr>
          <a:xfrm>
            <a:off x="704088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0.47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681228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↔ ROI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681228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lift returns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9098280" y="3931920"/>
            <a:ext cx="2240280" cy="1783080"/>
          </a:xfrm>
          <a:prstGeom prst="roundRect">
            <a:avLst>
              <a:gd name="adj" fmla="val 3590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Shape 48"/>
          <p:cNvSpPr/>
          <p:nvPr/>
        </p:nvSpPr>
        <p:spPr>
          <a:xfrm>
            <a:off x="941832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3" name="Text 49"/>
          <p:cNvSpPr/>
          <p:nvPr/>
        </p:nvSpPr>
        <p:spPr>
          <a:xfrm>
            <a:off x="941832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0.99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918972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↔ Spend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918972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data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Testing &amp; K-Means Clustering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Independent-samples t-tests (scipy.stats) comparing campaign types by ROI.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029200" cy="749808"/>
          </a:xfrm>
          <a:prstGeom prst="roundRect">
            <a:avLst>
              <a:gd name="adj" fmla="val 731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960120" y="2020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 (361%)  vs  Targeted Ads (314%)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216712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480560" y="21671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0.7996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7240" y="2834640"/>
            <a:ext cx="5029200" cy="749808"/>
          </a:xfrm>
          <a:prstGeom prst="roundRect">
            <a:avLst>
              <a:gd name="adj" fmla="val 731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96012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(517%)  vs  SEO (391%)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303580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4480560" y="30358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0.5710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3931920"/>
            <a:ext cx="5029200" cy="1691640"/>
          </a:xfrm>
          <a:prstGeom prst="roundRect">
            <a:avLst>
              <a:gd name="adj" fmla="val 3784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9601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" y="443484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1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p-values &gt; 0.05 → no statistically significant difference. With small samples (n = 4–10) this is expected. The professional response: report it honestly — decisions need more data, not cherry-picked ROI.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644652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45 campaigns grouped into 3 performance tiers (Elbow → k = 3).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46520" y="1920240"/>
            <a:ext cx="4937760" cy="603504"/>
          </a:xfrm>
          <a:prstGeom prst="roundRect">
            <a:avLst>
              <a:gd name="adj" fmla="val 9091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6583680" y="2103120"/>
            <a:ext cx="237744" cy="23774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6949440" y="19751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49440" y="22311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campaigns · CTR 2.46% · ROI 693%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46520" y="2633472"/>
            <a:ext cx="4937760" cy="603504"/>
          </a:xfrm>
          <a:prstGeom prst="roundRect">
            <a:avLst>
              <a:gd name="adj" fmla="val 9091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6583680" y="2816352"/>
            <a:ext cx="237744" cy="237744"/>
          </a:xfrm>
          <a:prstGeom prst="ellipse">
            <a:avLst/>
          </a:prstGeom>
          <a:solidFill>
            <a:srgbClr val="1F8F9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6949440" y="26883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Performance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49440" y="2944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campaigns · CTR 2.55% · ROI 172%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46520" y="3346704"/>
            <a:ext cx="4937760" cy="603504"/>
          </a:xfrm>
          <a:prstGeom prst="roundRect">
            <a:avLst>
              <a:gd name="adj" fmla="val 9091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Shape 31"/>
          <p:cNvSpPr/>
          <p:nvPr/>
        </p:nvSpPr>
        <p:spPr>
          <a:xfrm>
            <a:off x="6583680" y="3529584"/>
            <a:ext cx="237744" cy="237744"/>
          </a:xfrm>
          <a:prstGeom prst="ellipse">
            <a:avLst/>
          </a:prstGeom>
          <a:solidFill>
            <a:srgbClr val="2C6E9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6949440" y="34015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49440" y="36576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campaigns · CTR 1.47% · ROI 160%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4652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ROI BY TIER  (%)</a:t>
            </a:r>
            <a:endParaRPr lang="en-US" sz="10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6355080" y="4434840"/>
          <a:ext cx="5166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 &amp; Conversion Forecast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LOGISTIC REGRESSION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192024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7772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Biosfera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2423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7772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100584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clients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108960" y="196596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 on RFM scores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(+0.677) is the dominant churn driver — dormancy raises risk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model (4 clients): shows the logic, not a large-scale predictor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a client is far cheaper than acquiring one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4069080"/>
            <a:ext cx="5029200" cy="1508760"/>
          </a:xfrm>
          <a:prstGeom prst="roundRect">
            <a:avLst>
              <a:gd name="adj" fmla="val 4242"/>
            </a:avLst>
          </a:prstGeom>
          <a:solidFill>
            <a:srgbClr val="E6F1E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960120" y="406908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r>
              <a:rPr lang="en-US" sz="11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signal gives the agency a clear, ranked retention target before a paying client goes silent — turning analytics directly into revenue protection.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6446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— LINEAR REGRESSION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465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0.797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44652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on a held-out test set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2743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conversions from spend, impressions, CTR and CPC.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4652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CONVERSIONS BY SCENARIO</a:t>
            </a:r>
            <a:endParaRPr lang="en-US" sz="10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355080" y="3474720"/>
          <a:ext cx="5166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Optimization &amp; Web App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4813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programming (scipy.optimize.linprog) allocates 10M KZT to maximize ROI, 0.5M–5M per client.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210312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3611880" y="23317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3611880" y="2331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52.5M KZT
</a:t>
            </a:r>
            <a:r>
              <a:rPr lang="en-US" sz="10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total return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611880" y="3474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budget on highest-ROI clients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0.5M–5M per-client constraints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a true LP solver (linprog / HiGHS)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6446520" y="1481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interactive dashboard (app.py) — non-technical staff explore every result with no code.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46520" y="205740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>
            <a:off x="6583680" y="2212848"/>
            <a:ext cx="274320" cy="27432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4"/>
          <p:cNvSpPr/>
          <p:nvPr/>
        </p:nvSpPr>
        <p:spPr>
          <a:xfrm>
            <a:off x="658368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995160" y="21122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995160" y="23500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spend &amp; ROI charts, client filter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46520" y="271576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18"/>
          <p:cNvSpPr/>
          <p:nvPr/>
        </p:nvSpPr>
        <p:spPr>
          <a:xfrm>
            <a:off x="6583680" y="2871216"/>
            <a:ext cx="274320" cy="27432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19"/>
          <p:cNvSpPr/>
          <p:nvPr/>
        </p:nvSpPr>
        <p:spPr>
          <a:xfrm>
            <a:off x="658368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995160" y="2770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995160" y="30083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client's R/F/M and segment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446520" y="337413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3"/>
          <p:cNvSpPr/>
          <p:nvPr/>
        </p:nvSpPr>
        <p:spPr>
          <a:xfrm>
            <a:off x="6583680" y="3529584"/>
            <a:ext cx="274320" cy="27432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4"/>
          <p:cNvSpPr/>
          <p:nvPr/>
        </p:nvSpPr>
        <p:spPr>
          <a:xfrm>
            <a:off x="658368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995160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995160" y="36667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table + K-Means clusters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446520" y="403250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Shape 28"/>
          <p:cNvSpPr/>
          <p:nvPr/>
        </p:nvSpPr>
        <p:spPr>
          <a:xfrm>
            <a:off x="6583680" y="4187952"/>
            <a:ext cx="274320" cy="27432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29"/>
          <p:cNvSpPr/>
          <p:nvPr/>
        </p:nvSpPr>
        <p:spPr>
          <a:xfrm>
            <a:off x="658368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99516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Forecast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995160" y="43251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sliders → instant prediction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446520" y="469087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Shape 33"/>
          <p:cNvSpPr/>
          <p:nvPr/>
        </p:nvSpPr>
        <p:spPr>
          <a:xfrm>
            <a:off x="6583680" y="4846320"/>
            <a:ext cx="274320" cy="27432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Text 34"/>
          <p:cNvSpPr/>
          <p:nvPr/>
        </p:nvSpPr>
        <p:spPr>
          <a:xfrm>
            <a:off x="658368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995160" y="47457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Optimizer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6995160" y="49834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budget → allocation pie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446520" y="54406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Text 38"/>
          <p:cNvSpPr/>
          <p:nvPr/>
        </p:nvSpPr>
        <p:spPr>
          <a:xfrm>
            <a:off x="644652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100" dirty="0">
                <a:solidFill>
                  <a:srgbClr val="E1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github.com/sabi019/Practice_Welon_Agency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&amp; Challenges Solved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target identified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71600" y="2258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Biosfera flagged At Risk (46% churn) — re-engage before it's lost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3035808"/>
            <a:ext cx="365760" cy="36576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2724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990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campaign calendar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71600" y="3282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tells the agency when to launch per client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" y="4059936"/>
            <a:ext cx="365760" cy="36576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5137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014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budgeting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71600" y="4306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Math-based allocation of 10M KZT — saves hours of guesswork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22960" y="5084064"/>
            <a:ext cx="365760" cy="36576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038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371600" y="5330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gives non-technical staff live access to insights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1792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Text 20"/>
          <p:cNvSpPr/>
          <p:nvPr/>
        </p:nvSpPr>
        <p:spPr>
          <a:xfrm>
            <a:off x="6446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SOLUTIONS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 failed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675120" y="22494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04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qcut needs ≥4 distinct values per quartile</a:t>
            </a:r>
            <a:endParaRPr lang="en-US" sz="980" dirty="0"/>
          </a:p>
        </p:txBody>
      </p:sp>
      <p:sp>
        <p:nvSpPr>
          <p:cNvPr id="30" name="Text 23"/>
          <p:cNvSpPr/>
          <p:nvPr/>
        </p:nvSpPr>
        <p:spPr>
          <a:xfrm>
            <a:off x="6675120" y="2514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8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scoring — valid for small samples</a:t>
            </a:r>
            <a:endParaRPr lang="en-US" sz="980" dirty="0"/>
          </a:p>
        </p:txBody>
      </p:sp>
      <p:sp>
        <p:nvSpPr>
          <p:cNvPr id="31" name="Text 24"/>
          <p:cNvSpPr/>
          <p:nvPr/>
        </p:nvSpPr>
        <p:spPr>
          <a:xfrm>
            <a:off x="6446520" y="2990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A/B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675120" y="3273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04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&gt; 0.05 looked like an error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6675120" y="35387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8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low power; reported honestly</a:t>
            </a:r>
            <a:endParaRPr lang="en-US" sz="980" dirty="0"/>
          </a:p>
        </p:txBody>
      </p:sp>
      <p:sp>
        <p:nvSpPr>
          <p:cNvPr id="34" name="Text 27"/>
          <p:cNvSpPr/>
          <p:nvPr/>
        </p:nvSpPr>
        <p:spPr>
          <a:xfrm>
            <a:off x="6446520" y="4014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stalled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675120" y="4297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04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SLSQP returned an equal split</a:t>
            </a:r>
            <a:endParaRPr lang="en-US" sz="980" dirty="0"/>
          </a:p>
        </p:txBody>
      </p:sp>
      <p:sp>
        <p:nvSpPr>
          <p:cNvPr id="36" name="Text 29"/>
          <p:cNvSpPr/>
          <p:nvPr/>
        </p:nvSpPr>
        <p:spPr>
          <a:xfrm>
            <a:off x="6675120" y="45628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8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linprog (HiGHS) — correct LP</a:t>
            </a:r>
            <a:endParaRPr lang="en-US" sz="980" dirty="0"/>
          </a:p>
        </p:txBody>
      </p:sp>
      <p:sp>
        <p:nvSpPr>
          <p:cNvPr id="37" name="Text 30"/>
          <p:cNvSpPr/>
          <p:nvPr/>
        </p:nvSpPr>
        <p:spPr>
          <a:xfrm>
            <a:off x="6446520" y="5038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b="1" dirty="0">
                <a:solidFill>
                  <a:srgbClr val="1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conflict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675120" y="5321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04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8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vs system Python broke Streamlit</a:t>
            </a:r>
            <a:endParaRPr lang="en-US" sz="980" dirty="0"/>
          </a:p>
        </p:txBody>
      </p:sp>
      <p:sp>
        <p:nvSpPr>
          <p:cNvPr id="39" name="Text 32"/>
          <p:cNvSpPr/>
          <p:nvPr/>
        </p:nvSpPr>
        <p:spPr>
          <a:xfrm>
            <a:off x="6675120" y="55869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8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python -m streamlit run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66928" cy="5669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74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Conclusion &amp; Future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15568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WELON AGENCY  ·  Client Base Analysis &amp; Campaign Performance Optimization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772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relational modelling · RFM, clustering &amp; Elbow · hypothesis testing &amp; p-values · Logistic &amp; Linear Regression · mathematical optimization (linprog) · feature engineering · Streamlit development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772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ME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43891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vs. real data — </a:t>
            </a:r>
            <a:r>
              <a:rPr lang="en-US" sz="110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data is clean with known answers; real data is messy, samples small, results ambiguous.
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results — </a:t>
            </a:r>
            <a:r>
              <a:rPr lang="en-US" sz="110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move was not to hide non-significant p-values but to report what they mean for decisions.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3258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6446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4652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data → SQL → ML → dashboard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45-campaign dataset in a SQLite database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analyses incl. churn, clustering, forecasting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budget optimization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Streamlit web application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38404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B0C0">
                <a:alpha val="2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64465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46520" y="4389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larger, growing datasets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ad-platform APIs (Meta, Google Ads)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to push forecasting beyond R² 0.80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cloud (Streamlit Cloud / Heroku)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2C6E91">
              <a:alpha val="36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12A594">
              <a:alpha val="28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Aitakhmetova Sabina  ·  MCS-2401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github.com/sabi019/Practice_Welon_Agency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Practice  ·  WELON AGENCY (TOO)  ·  Astana,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1671</Words>
  <Application>Microsoft Office PowerPoint</Application>
  <PresentationFormat>Широкоэкранный</PresentationFormat>
  <Paragraphs>341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WELON AGENCY — Internship (compact)</dc:title>
  <dc:subject>PptxGenJS Presentation</dc:subject>
  <dc:creator>Aitakhmetova Sabina</dc:creator>
  <cp:lastModifiedBy>Sabina Aitakhmetova</cp:lastModifiedBy>
  <cp:revision>2</cp:revision>
  <dcterms:created xsi:type="dcterms:W3CDTF">2026-06-28T10:31:48Z</dcterms:created>
  <dcterms:modified xsi:type="dcterms:W3CDTF">2026-06-28T11:29:13Z</dcterms:modified>
</cp:coreProperties>
</file>